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2" r:id="rId5"/>
    <p:sldId id="263" r:id="rId6"/>
    <p:sldId id="259" r:id="rId7"/>
    <p:sldId id="260" r:id="rId8"/>
    <p:sldId id="270" r:id="rId9"/>
    <p:sldId id="265" r:id="rId10"/>
    <p:sldId id="266" r:id="rId11"/>
    <p:sldId id="267" r:id="rId12"/>
    <p:sldId id="268" r:id="rId13"/>
    <p:sldId id="269" r:id="rId14"/>
    <p:sldId id="26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6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569C0-D002-4861-B441-B3413BF2615F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FC74E-6E23-43EB-9BCF-615D2E3EE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819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569C0-D002-4861-B441-B3413BF2615F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FC74E-6E23-43EB-9BCF-615D2E3EE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568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569C0-D002-4861-B441-B3413BF2615F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FC74E-6E23-43EB-9BCF-615D2E3EE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059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569C0-D002-4861-B441-B3413BF2615F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FC74E-6E23-43EB-9BCF-615D2E3EE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744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569C0-D002-4861-B441-B3413BF2615F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FC74E-6E23-43EB-9BCF-615D2E3EE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569C0-D002-4861-B441-B3413BF2615F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FC74E-6E23-43EB-9BCF-615D2E3EE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055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569C0-D002-4861-B441-B3413BF2615F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FC74E-6E23-43EB-9BCF-615D2E3EE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704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569C0-D002-4861-B441-B3413BF2615F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FC74E-6E23-43EB-9BCF-615D2E3EE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612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569C0-D002-4861-B441-B3413BF2615F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FC74E-6E23-43EB-9BCF-615D2E3EE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256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569C0-D002-4861-B441-B3413BF2615F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FC74E-6E23-43EB-9BCF-615D2E3EE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767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569C0-D002-4861-B441-B3413BF2615F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FC74E-6E23-43EB-9BCF-615D2E3EE966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07428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569C0-D002-4861-B441-B3413BF2615F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FC74E-6E23-43EB-9BCF-615D2E3EE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7462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569C0-D002-4861-B441-B3413BF2615F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FC74E-6E23-43EB-9BCF-615D2E3EE966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062762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569C0-D002-4861-B441-B3413BF2615F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FC74E-6E23-43EB-9BCF-615D2E3EE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331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569C0-D002-4861-B441-B3413BF2615F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FC74E-6E23-43EB-9BCF-615D2E3EE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5454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569C0-D002-4861-B441-B3413BF2615F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FC74E-6E23-43EB-9BCF-615D2E3EE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786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6569C0-D002-4861-B441-B3413BF2615F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06FC74E-6E23-43EB-9BCF-615D2E3EE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868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11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Cilj</a:t>
            </a:r>
            <a:r>
              <a:rPr lang="en-US" dirty="0"/>
              <a:t> </a:t>
            </a:r>
            <a:r>
              <a:rPr lang="en-US" dirty="0" err="1"/>
              <a:t>projekta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/>
              <a:t>Prikupljanje</a:t>
            </a:r>
            <a:r>
              <a:rPr lang="en-US" sz="2400" dirty="0"/>
              <a:t> </a:t>
            </a:r>
            <a:r>
              <a:rPr lang="en-US" sz="2400" dirty="0" err="1"/>
              <a:t>senzorskih</a:t>
            </a:r>
            <a:r>
              <a:rPr lang="en-US" sz="2400" dirty="0"/>
              <a:t> </a:t>
            </a:r>
            <a:r>
              <a:rPr lang="en-US" sz="2400" dirty="0" err="1"/>
              <a:t>podataka</a:t>
            </a:r>
            <a:r>
              <a:rPr lang="en-US" sz="2400" dirty="0"/>
              <a:t> u </a:t>
            </a:r>
            <a:r>
              <a:rPr lang="en-US" sz="2400" dirty="0" err="1"/>
              <a:t>realnom</a:t>
            </a:r>
            <a:r>
              <a:rPr lang="en-US" sz="2400" dirty="0"/>
              <a:t> </a:t>
            </a:r>
            <a:r>
              <a:rPr lang="en-US" sz="2400" dirty="0" err="1" smtClean="0"/>
              <a:t>vremenu</a:t>
            </a:r>
            <a:endParaRPr lang="en-US" sz="2400" dirty="0" smtClean="0"/>
          </a:p>
          <a:p>
            <a:r>
              <a:rPr lang="en-US" sz="2400" dirty="0" err="1"/>
              <a:t>Obrada</a:t>
            </a:r>
            <a:r>
              <a:rPr lang="en-US" sz="2400" dirty="0"/>
              <a:t> </a:t>
            </a:r>
            <a:r>
              <a:rPr lang="en-US" sz="2400" dirty="0" err="1"/>
              <a:t>i</a:t>
            </a:r>
            <a:r>
              <a:rPr lang="en-US" sz="2400" dirty="0"/>
              <a:t> </a:t>
            </a:r>
            <a:r>
              <a:rPr lang="en-US" sz="2400" dirty="0" err="1"/>
              <a:t>klasifikacija</a:t>
            </a:r>
            <a:r>
              <a:rPr lang="en-US" sz="2400" dirty="0"/>
              <a:t> </a:t>
            </a:r>
            <a:r>
              <a:rPr lang="en-US" sz="2400" dirty="0" err="1" smtClean="0"/>
              <a:t>podataka</a:t>
            </a:r>
            <a:endParaRPr lang="en-US" sz="2400" dirty="0" smtClean="0"/>
          </a:p>
          <a:p>
            <a:r>
              <a:rPr lang="en-US" sz="2400" dirty="0" err="1"/>
              <a:t>Distribuirana</a:t>
            </a:r>
            <a:r>
              <a:rPr lang="en-US" sz="2400" dirty="0"/>
              <a:t> </a:t>
            </a:r>
            <a:r>
              <a:rPr lang="en-US" sz="2400" dirty="0" err="1"/>
              <a:t>IoT</a:t>
            </a:r>
            <a:r>
              <a:rPr lang="en-US" sz="2400" dirty="0"/>
              <a:t> </a:t>
            </a:r>
            <a:r>
              <a:rPr lang="en-US" sz="2400" dirty="0" err="1" smtClean="0"/>
              <a:t>arhitektura</a:t>
            </a:r>
            <a:endParaRPr lang="en-US" sz="2400" dirty="0" smtClean="0"/>
          </a:p>
          <a:p>
            <a:r>
              <a:rPr lang="en-US" sz="2400" dirty="0" err="1"/>
              <a:t>Mobilni</a:t>
            </a:r>
            <a:r>
              <a:rPr lang="en-US" sz="2400" dirty="0"/>
              <a:t> monitoring </a:t>
            </a:r>
            <a:r>
              <a:rPr lang="en-US" sz="2400" dirty="0" err="1" smtClean="0"/>
              <a:t>sistem</a:t>
            </a:r>
            <a:endParaRPr lang="en-US" sz="2400" dirty="0" smtClean="0"/>
          </a:p>
          <a:p>
            <a:r>
              <a:rPr lang="en-US" sz="2400" dirty="0" err="1"/>
              <a:t>Udaljena</a:t>
            </a:r>
            <a:r>
              <a:rPr lang="en-US" sz="2400" dirty="0"/>
              <a:t> </a:t>
            </a:r>
            <a:r>
              <a:rPr lang="en-US" sz="2400" dirty="0" err="1"/>
              <a:t>konfiguracija</a:t>
            </a:r>
            <a:r>
              <a:rPr lang="en-US" sz="2400" dirty="0"/>
              <a:t> </a:t>
            </a:r>
            <a:r>
              <a:rPr lang="en-US" sz="2400" dirty="0" err="1" smtClean="0"/>
              <a:t>sistema</a:t>
            </a:r>
            <a:endParaRPr lang="en-US" sz="2400" dirty="0" smtClean="0"/>
          </a:p>
          <a:p>
            <a:r>
              <a:rPr lang="en-US" sz="2400" dirty="0" err="1"/>
              <a:t>Upravljanje</a:t>
            </a:r>
            <a:r>
              <a:rPr lang="en-US" sz="2400" dirty="0"/>
              <a:t> </a:t>
            </a:r>
            <a:r>
              <a:rPr lang="en-US" sz="2400" dirty="0" err="1"/>
              <a:t>aktuatorima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99371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Hardverske</a:t>
            </a:r>
            <a:r>
              <a:rPr lang="en-US" dirty="0"/>
              <a:t> </a:t>
            </a:r>
            <a:r>
              <a:rPr lang="en-US" dirty="0" err="1"/>
              <a:t>komponente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508901"/>
              </p:ext>
            </p:extLst>
          </p:nvPr>
        </p:nvGraphicFramePr>
        <p:xfrm>
          <a:off x="677861" y="2160588"/>
          <a:ext cx="896189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476"/>
                <a:gridCol w="4847422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 err="1"/>
                        <a:t>Komponenta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Uloga</a:t>
                      </a:r>
                      <a:endParaRPr lang="en-US" sz="240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it-IT" sz="2400" dirty="0"/>
                        <a:t>Arduino Nano 33 BLE Sense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Kamera</a:t>
                      </a:r>
                      <a:r>
                        <a:rPr lang="en-US" sz="2400" dirty="0" smtClean="0"/>
                        <a:t> </a:t>
                      </a:r>
                      <a:r>
                        <a:rPr lang="en-US" sz="2400" dirty="0" err="1" smtClean="0"/>
                        <a:t>i</a:t>
                      </a:r>
                      <a:r>
                        <a:rPr lang="en-US" sz="2400" dirty="0" smtClean="0"/>
                        <a:t> </a:t>
                      </a:r>
                      <a:r>
                        <a:rPr lang="en-US" sz="2400" dirty="0" err="1" smtClean="0"/>
                        <a:t>obrada</a:t>
                      </a:r>
                      <a:r>
                        <a:rPr lang="en-US" sz="2400" dirty="0" smtClean="0"/>
                        <a:t> </a:t>
                      </a:r>
                      <a:r>
                        <a:rPr lang="en-US" sz="2400" dirty="0" err="1" smtClean="0"/>
                        <a:t>slike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OV7675 </a:t>
                      </a:r>
                      <a:r>
                        <a:rPr lang="en-US" sz="2400" dirty="0" err="1" smtClean="0"/>
                        <a:t>kamera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Prikupljanje</a:t>
                      </a:r>
                      <a:r>
                        <a:rPr lang="en-US" sz="2400" dirty="0" smtClean="0"/>
                        <a:t> grayscale frame-ova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Raspberry Pi 4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Edge </a:t>
                      </a:r>
                      <a:r>
                        <a:rPr lang="en-US" sz="2400" dirty="0" err="1" smtClean="0"/>
                        <a:t>ure</a:t>
                      </a:r>
                      <a:r>
                        <a:rPr lang="sr-Latn-RS" sz="2400" dirty="0" smtClean="0"/>
                        <a:t>đaj</a:t>
                      </a:r>
                      <a:r>
                        <a:rPr lang="sr-Latn-RS" sz="2400" baseline="0" dirty="0" smtClean="0"/>
                        <a:t> i MQTT bridge</a:t>
                      </a:r>
                      <a:endParaRPr lang="en-US" sz="240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Laptop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FastAPI</a:t>
                      </a:r>
                      <a:r>
                        <a:rPr lang="en-US" sz="2400" dirty="0" smtClean="0"/>
                        <a:t> backend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Android </a:t>
                      </a:r>
                      <a:r>
                        <a:rPr lang="en-US" sz="2400" dirty="0" err="1" smtClean="0"/>
                        <a:t>telefon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Monitoring </a:t>
                      </a:r>
                      <a:r>
                        <a:rPr lang="en-US" sz="2400" dirty="0" err="1" smtClean="0"/>
                        <a:t>i</a:t>
                      </a:r>
                      <a:r>
                        <a:rPr lang="en-US" sz="2400" dirty="0" smtClean="0"/>
                        <a:t> </a:t>
                      </a:r>
                      <a:r>
                        <a:rPr lang="en-US" sz="2400" dirty="0" err="1" smtClean="0"/>
                        <a:t>kontrola</a:t>
                      </a:r>
                      <a:endParaRPr lang="en-US" sz="2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5934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Softverske</a:t>
            </a:r>
            <a:r>
              <a:rPr lang="en-US" dirty="0"/>
              <a:t> </a:t>
            </a:r>
            <a:r>
              <a:rPr lang="en-US" dirty="0" err="1"/>
              <a:t>komponente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korišćene</a:t>
            </a:r>
            <a:r>
              <a:rPr lang="en-US" dirty="0"/>
              <a:t> </a:t>
            </a:r>
            <a:r>
              <a:rPr lang="en-US" dirty="0" err="1"/>
              <a:t>tehnologije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2898506"/>
              </p:ext>
            </p:extLst>
          </p:nvPr>
        </p:nvGraphicFramePr>
        <p:xfrm>
          <a:off x="462707" y="2160588"/>
          <a:ext cx="9077900" cy="387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2995"/>
                <a:gridCol w="476490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Softverska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komponenta</a:t>
                      </a:r>
                      <a:r>
                        <a:rPr lang="en-US" dirty="0"/>
                        <a:t> / </a:t>
                      </a:r>
                      <a:r>
                        <a:rPr lang="en-US" dirty="0" err="1"/>
                        <a:t>tehnologija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Uloga</a:t>
                      </a:r>
                      <a:r>
                        <a:rPr lang="en-US" dirty="0" smtClean="0"/>
                        <a:t> u </a:t>
                      </a:r>
                      <a:r>
                        <a:rPr lang="en-US" dirty="0" err="1" smtClean="0"/>
                        <a:t>sistemu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Python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Implementacija</a:t>
                      </a:r>
                      <a:r>
                        <a:rPr lang="en-US" dirty="0" smtClean="0"/>
                        <a:t> backend </a:t>
                      </a:r>
                      <a:r>
                        <a:rPr lang="en-US" dirty="0" err="1" smtClean="0"/>
                        <a:t>i</a:t>
                      </a:r>
                      <a:r>
                        <a:rPr lang="en-US" dirty="0" smtClean="0"/>
                        <a:t> bridge </a:t>
                      </a:r>
                      <a:r>
                        <a:rPr lang="en-US" dirty="0" err="1" smtClean="0"/>
                        <a:t>logike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FastAPI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REST API </a:t>
                      </a:r>
                      <a:r>
                        <a:rPr lang="en-US" dirty="0" err="1" smtClean="0"/>
                        <a:t>i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WebSocket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komunikacija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MQTT (</a:t>
                      </a:r>
                      <a:r>
                        <a:rPr lang="en-US" dirty="0" err="1"/>
                        <a:t>Mosquitto</a:t>
                      </a:r>
                      <a:r>
                        <a:rPr lang="en-US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Realtime</a:t>
                      </a:r>
                      <a:r>
                        <a:rPr lang="en-US" dirty="0"/>
                        <a:t> publish/subscribe </a:t>
                      </a:r>
                      <a:r>
                        <a:rPr lang="en-US" dirty="0" err="1"/>
                        <a:t>komunikacija</a:t>
                      </a:r>
                      <a:endParaRPr 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Paho</a:t>
                      </a:r>
                      <a:r>
                        <a:rPr lang="en-US" dirty="0"/>
                        <a:t> MQTT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l-PL" dirty="0" smtClean="0"/>
                        <a:t>MQTT komunikacija u Python aplikacijama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PySerial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Serial </a:t>
                      </a:r>
                      <a:r>
                        <a:rPr lang="en-US" dirty="0" err="1" smtClean="0"/>
                        <a:t>komunikacija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između</a:t>
                      </a:r>
                      <a:r>
                        <a:rPr lang="en-US" dirty="0" smtClean="0"/>
                        <a:t> Raspberry Pi </a:t>
                      </a:r>
                      <a:r>
                        <a:rPr lang="en-US" dirty="0" err="1" smtClean="0"/>
                        <a:t>i</a:t>
                      </a:r>
                      <a:r>
                        <a:rPr lang="en-US" dirty="0" smtClean="0"/>
                        <a:t> Arduino </a:t>
                      </a:r>
                      <a:r>
                        <a:rPr lang="en-US" dirty="0" err="1" smtClean="0"/>
                        <a:t>uređaja</a:t>
                      </a:r>
                      <a:endParaRPr lang="en-US" dirty="0"/>
                    </a:p>
                  </a:txBody>
                  <a:tcPr/>
                </a:tc>
              </a:tr>
              <a:tr h="315086">
                <a:tc>
                  <a:txBody>
                    <a:bodyPr/>
                    <a:lstStyle/>
                    <a:p>
                      <a:r>
                        <a:rPr lang="en-US" dirty="0" smtClean="0"/>
                        <a:t>Docker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dirty="0" smtClean="0"/>
                        <a:t>Pokretranje MQTT servisa</a:t>
                      </a:r>
                      <a:r>
                        <a:rPr lang="sr-Latn-RS" baseline="0" dirty="0" smtClean="0"/>
                        <a:t> u kontejnerima</a:t>
                      </a:r>
                      <a:endParaRPr 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sr-Latn-RS" dirty="0" smtClean="0"/>
                        <a:t>Kotlin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Razvoj</a:t>
                      </a:r>
                      <a:r>
                        <a:rPr lang="en-US" dirty="0" smtClean="0"/>
                        <a:t> Android </a:t>
                      </a:r>
                      <a:r>
                        <a:rPr lang="en-US" dirty="0" err="1" smtClean="0"/>
                        <a:t>aplikacije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sr-Latn-RS" dirty="0" smtClean="0"/>
                        <a:t>Jetpack Compose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Razvoj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modernog</a:t>
                      </a:r>
                      <a:r>
                        <a:rPr lang="en-US" dirty="0" smtClean="0"/>
                        <a:t> Android </a:t>
                      </a:r>
                      <a:r>
                        <a:rPr lang="en-US" dirty="0" err="1" smtClean="0"/>
                        <a:t>korisničkog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interfejsa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144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Softverske</a:t>
            </a:r>
            <a:r>
              <a:rPr lang="en-US" dirty="0"/>
              <a:t> </a:t>
            </a:r>
            <a:r>
              <a:rPr lang="en-US" dirty="0" err="1"/>
              <a:t>komponente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korišćene</a:t>
            </a:r>
            <a:r>
              <a:rPr lang="en-US" dirty="0"/>
              <a:t> </a:t>
            </a:r>
            <a:r>
              <a:rPr lang="en-US" dirty="0" err="1"/>
              <a:t>tehnologije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9854021"/>
              </p:ext>
            </p:extLst>
          </p:nvPr>
        </p:nvGraphicFramePr>
        <p:xfrm>
          <a:off x="462707" y="2160588"/>
          <a:ext cx="9077900" cy="3032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2995"/>
                <a:gridCol w="476490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Softverska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komponenta</a:t>
                      </a:r>
                      <a:r>
                        <a:rPr lang="en-US" dirty="0"/>
                        <a:t> / </a:t>
                      </a:r>
                      <a:r>
                        <a:rPr lang="en-US" dirty="0" err="1"/>
                        <a:t>tehnologija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Uloga</a:t>
                      </a:r>
                      <a:r>
                        <a:rPr lang="en-US" dirty="0" smtClean="0"/>
                        <a:t> u </a:t>
                      </a:r>
                      <a:r>
                        <a:rPr lang="en-US" dirty="0" err="1" smtClean="0"/>
                        <a:t>sistemu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mtClean="0"/>
                        <a:t>HTTP i WebSocket komunikacija u Android aplikaciji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HTTP </a:t>
                      </a:r>
                      <a:r>
                        <a:rPr lang="en-US" dirty="0" err="1" smtClean="0"/>
                        <a:t>i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WebSocket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komunikacija</a:t>
                      </a:r>
                      <a:r>
                        <a:rPr lang="en-US" dirty="0" smtClean="0"/>
                        <a:t> u Android </a:t>
                      </a:r>
                      <a:r>
                        <a:rPr lang="en-US" dirty="0" err="1" smtClean="0"/>
                        <a:t>aplikaciji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Arduino IDE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Razvoj i upload Arduino firmware-a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Arduino_OV767X </a:t>
                      </a:r>
                      <a:r>
                        <a:rPr lang="en-US" dirty="0" err="1" smtClean="0"/>
                        <a:t>biblioteka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Upravljanje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kamerom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i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čitanje</a:t>
                      </a:r>
                      <a:r>
                        <a:rPr lang="en-US" dirty="0" smtClean="0"/>
                        <a:t> frame-ova</a:t>
                      </a:r>
                      <a:endParaRPr 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JSON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Razmena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podataka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između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komponenti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sistema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WebSocket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Realtime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prenos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podataka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ka</a:t>
                      </a:r>
                      <a:r>
                        <a:rPr lang="en-US" dirty="0" smtClean="0"/>
                        <a:t> Android </a:t>
                      </a:r>
                      <a:r>
                        <a:rPr lang="en-US" dirty="0" err="1" smtClean="0"/>
                        <a:t>aplikaciji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2192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Arhitektura</a:t>
            </a:r>
            <a:r>
              <a:rPr lang="en-US" dirty="0"/>
              <a:t> </a:t>
            </a:r>
            <a:r>
              <a:rPr lang="en-US" dirty="0" err="1"/>
              <a:t>sistema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767769" y="1476260"/>
            <a:ext cx="1883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 smtClean="0"/>
              <a:t>Arduino Nano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697712" y="2612394"/>
            <a:ext cx="1883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 smtClean="0"/>
              <a:t>Raspberry Pi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602516" y="3965223"/>
            <a:ext cx="2346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 smtClean="0"/>
              <a:t>Fast API Backend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602516" y="5295244"/>
            <a:ext cx="2214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Android Application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091784" y="2095269"/>
            <a:ext cx="1883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1600" dirty="0" smtClean="0">
                <a:solidFill>
                  <a:schemeClr val="accent1"/>
                </a:solidFill>
              </a:rPr>
              <a:t>USB serial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94747" y="3280653"/>
            <a:ext cx="1883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1600" dirty="0" smtClean="0">
                <a:solidFill>
                  <a:schemeClr val="accent1"/>
                </a:solidFill>
              </a:rPr>
              <a:t>MQTT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247440" y="4757917"/>
            <a:ext cx="23686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1600" dirty="0" smtClean="0">
                <a:solidFill>
                  <a:schemeClr val="accent1"/>
                </a:solidFill>
              </a:rPr>
              <a:t>Websocket/REST API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13" name="Down Arrow 12"/>
          <p:cNvSpPr/>
          <p:nvPr/>
        </p:nvSpPr>
        <p:spPr>
          <a:xfrm>
            <a:off x="4483863" y="2059625"/>
            <a:ext cx="132203" cy="34676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Down Arrow 13"/>
          <p:cNvSpPr/>
          <p:nvPr/>
        </p:nvSpPr>
        <p:spPr>
          <a:xfrm>
            <a:off x="4483863" y="3231042"/>
            <a:ext cx="132203" cy="34676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own Arrow 14"/>
          <p:cNvSpPr/>
          <p:nvPr/>
        </p:nvSpPr>
        <p:spPr>
          <a:xfrm>
            <a:off x="4483864" y="4752529"/>
            <a:ext cx="132203" cy="34676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045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Obrada</a:t>
            </a:r>
            <a:r>
              <a:rPr lang="en-US" dirty="0"/>
              <a:t> </a:t>
            </a:r>
            <a:r>
              <a:rPr lang="en-US" dirty="0" err="1"/>
              <a:t>slike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Arduino </a:t>
            </a:r>
            <a:r>
              <a:rPr lang="en-US" dirty="0" err="1"/>
              <a:t>uređaju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/>
              <a:t>Čitanje</a:t>
            </a:r>
            <a:r>
              <a:rPr lang="en-US" sz="2400" dirty="0"/>
              <a:t> grayscale </a:t>
            </a:r>
            <a:r>
              <a:rPr lang="en-US" sz="2400" dirty="0" smtClean="0"/>
              <a:t>frame-a</a:t>
            </a:r>
            <a:endParaRPr lang="sr-Latn-RS" sz="2400" dirty="0" smtClean="0"/>
          </a:p>
          <a:p>
            <a:r>
              <a:rPr lang="en-US" sz="2400" dirty="0" err="1"/>
              <a:t>Izračunavanje</a:t>
            </a:r>
            <a:r>
              <a:rPr lang="en-US" sz="2400" dirty="0"/>
              <a:t> brightness </a:t>
            </a:r>
            <a:r>
              <a:rPr lang="en-US" sz="2400" dirty="0" err="1" smtClean="0"/>
              <a:t>vrednosti</a:t>
            </a:r>
            <a:endParaRPr lang="sr-Latn-RS" sz="2400" dirty="0" smtClean="0"/>
          </a:p>
          <a:p>
            <a:r>
              <a:rPr lang="en-US" sz="2400" dirty="0" err="1"/>
              <a:t>Izračunavanje</a:t>
            </a:r>
            <a:r>
              <a:rPr lang="en-US" sz="2400" dirty="0"/>
              <a:t> contrast </a:t>
            </a:r>
            <a:r>
              <a:rPr lang="en-US" sz="2400" dirty="0" err="1" smtClean="0"/>
              <a:t>vrednosti</a:t>
            </a:r>
            <a:endParaRPr lang="sr-Latn-RS" sz="2400" dirty="0" smtClean="0"/>
          </a:p>
          <a:p>
            <a:r>
              <a:rPr lang="en-US" sz="2400" dirty="0" err="1"/>
              <a:t>Detekcija</a:t>
            </a:r>
            <a:r>
              <a:rPr lang="en-US" sz="2400" dirty="0"/>
              <a:t> </a:t>
            </a:r>
            <a:r>
              <a:rPr lang="en-US" sz="2400" dirty="0" err="1"/>
              <a:t>naglih</a:t>
            </a:r>
            <a:r>
              <a:rPr lang="en-US" sz="2400" dirty="0"/>
              <a:t> </a:t>
            </a:r>
            <a:r>
              <a:rPr lang="en-US" sz="2400" dirty="0" err="1" smtClean="0"/>
              <a:t>promena</a:t>
            </a:r>
            <a:endParaRPr lang="sr-Latn-RS" sz="2400" dirty="0" smtClean="0"/>
          </a:p>
          <a:p>
            <a:r>
              <a:rPr lang="en-US" sz="2400" dirty="0" err="1"/>
              <a:t>Generisanje</a:t>
            </a:r>
            <a:r>
              <a:rPr lang="en-US" sz="2400" dirty="0"/>
              <a:t> JSON </a:t>
            </a:r>
            <a:r>
              <a:rPr lang="en-US" sz="2400" dirty="0" err="1"/>
              <a:t>podataka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95137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MQTT </a:t>
            </a:r>
            <a:r>
              <a:rPr lang="en-US" dirty="0" err="1"/>
              <a:t>i</a:t>
            </a:r>
            <a:r>
              <a:rPr lang="en-US" dirty="0"/>
              <a:t> Raspberry Pi bridge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4931" t="3996" r="5360" b="12848"/>
          <a:stretch/>
        </p:blipFill>
        <p:spPr>
          <a:xfrm>
            <a:off x="3448278" y="3616233"/>
            <a:ext cx="7711809" cy="3172858"/>
          </a:xfrm>
          <a:prstGeom prst="rect">
            <a:avLst/>
          </a:prstGeom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677334" y="1675847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err="1"/>
              <a:t>Čitanje</a:t>
            </a:r>
            <a:r>
              <a:rPr lang="en-US" sz="2400" dirty="0"/>
              <a:t> serial </a:t>
            </a:r>
            <a:r>
              <a:rPr lang="en-US" sz="2400" dirty="0" err="1" smtClean="0"/>
              <a:t>podataka</a:t>
            </a:r>
            <a:endParaRPr lang="sr-Latn-RS" sz="2400" dirty="0" smtClean="0"/>
          </a:p>
          <a:p>
            <a:r>
              <a:rPr lang="en-US" sz="2400" dirty="0"/>
              <a:t>MQTT </a:t>
            </a:r>
            <a:r>
              <a:rPr lang="en-US" sz="2400" dirty="0" smtClean="0"/>
              <a:t>publish</a:t>
            </a:r>
            <a:endParaRPr lang="sr-Latn-RS" sz="2400" dirty="0" smtClean="0"/>
          </a:p>
          <a:p>
            <a:r>
              <a:rPr lang="en-US" sz="2400" dirty="0"/>
              <a:t>MQTT </a:t>
            </a:r>
            <a:r>
              <a:rPr lang="en-US" sz="2400" dirty="0" smtClean="0"/>
              <a:t>subscribe</a:t>
            </a:r>
            <a:endParaRPr lang="sr-Latn-RS" sz="2400" dirty="0" smtClean="0"/>
          </a:p>
          <a:p>
            <a:r>
              <a:rPr lang="en-US" sz="2400" dirty="0" err="1"/>
              <a:t>Prosleđivanje</a:t>
            </a:r>
            <a:r>
              <a:rPr lang="en-US" sz="2400" dirty="0"/>
              <a:t> </a:t>
            </a:r>
            <a:r>
              <a:rPr lang="en-US" sz="2400" dirty="0" err="1"/>
              <a:t>komandi</a:t>
            </a:r>
            <a:r>
              <a:rPr lang="en-US" sz="2400" dirty="0"/>
              <a:t> Arduino </a:t>
            </a:r>
            <a:r>
              <a:rPr lang="en-US" sz="2400" dirty="0" err="1" smtClean="0"/>
              <a:t>uređaju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29336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Android aplikacija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Dashboard</a:t>
            </a:r>
            <a:endParaRPr lang="sr-Latn-RS" sz="2400" dirty="0" smtClean="0"/>
          </a:p>
          <a:p>
            <a:r>
              <a:rPr lang="en-US" sz="2400" dirty="0" smtClean="0"/>
              <a:t>History</a:t>
            </a:r>
            <a:endParaRPr lang="sr-Latn-RS" sz="2400" dirty="0" smtClean="0"/>
          </a:p>
          <a:p>
            <a:r>
              <a:rPr lang="en-US" sz="2400" dirty="0"/>
              <a:t>Settings &amp; </a:t>
            </a:r>
            <a:r>
              <a:rPr lang="en-US" sz="2400" dirty="0" smtClean="0"/>
              <a:t>Control</a:t>
            </a:r>
            <a:endParaRPr lang="sr-Latn-RS" sz="2400" dirty="0" smtClean="0"/>
          </a:p>
          <a:p>
            <a:r>
              <a:rPr lang="sr-Latn-RS" sz="2400" dirty="0" smtClean="0"/>
              <a:t>Upravljanje aktuatorima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374128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Dashboard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4896"/>
          <a:stretch/>
        </p:blipFill>
        <p:spPr>
          <a:xfrm>
            <a:off x="4153619" y="275422"/>
            <a:ext cx="3271749" cy="6246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198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History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71016" y="497828"/>
            <a:ext cx="3063530" cy="615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096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Settings &amp; Control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990"/>
          <a:stretch/>
        </p:blipFill>
        <p:spPr>
          <a:xfrm>
            <a:off x="4854481" y="420097"/>
            <a:ext cx="3187831" cy="6344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6712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signal-2026-05-12-195324">
            <a:hlinkClick r:id="" action="ppaction://media"/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 rot="16200000">
            <a:off x="3150948" y="1068651"/>
            <a:ext cx="3432457" cy="6063841"/>
          </a:xfrm>
        </p:spPr>
      </p:pic>
    </p:spTree>
    <p:extLst>
      <p:ext uri="{BB962C8B-B14F-4D97-AF65-F5344CB8AC3E}">
        <p14:creationId xmlns:p14="http://schemas.microsoft.com/office/powerpoint/2010/main" val="4232940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Tehnički</a:t>
            </a:r>
            <a:r>
              <a:rPr lang="en-US" dirty="0"/>
              <a:t> </a:t>
            </a:r>
            <a:r>
              <a:rPr lang="en-US" dirty="0" err="1"/>
              <a:t>izazovi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Serial </a:t>
            </a:r>
            <a:r>
              <a:rPr lang="en-US" sz="2400" dirty="0" err="1"/>
              <a:t>komunikacija</a:t>
            </a:r>
            <a:r>
              <a:rPr lang="en-US" sz="2400" dirty="0"/>
              <a:t> </a:t>
            </a:r>
            <a:r>
              <a:rPr lang="en-US" sz="2400" dirty="0" err="1"/>
              <a:t>između</a:t>
            </a:r>
            <a:r>
              <a:rPr lang="en-US" sz="2400" dirty="0"/>
              <a:t> Arduino </a:t>
            </a:r>
            <a:r>
              <a:rPr lang="en-US" sz="2400" dirty="0" err="1"/>
              <a:t>i</a:t>
            </a:r>
            <a:r>
              <a:rPr lang="en-US" sz="2400" dirty="0"/>
              <a:t> Raspberry Pi </a:t>
            </a:r>
            <a:r>
              <a:rPr lang="en-US" sz="2400" dirty="0" err="1" smtClean="0"/>
              <a:t>uređaja</a:t>
            </a:r>
            <a:endParaRPr lang="sr-Latn-RS" sz="2400" dirty="0" smtClean="0"/>
          </a:p>
          <a:p>
            <a:r>
              <a:rPr lang="nn-NO" sz="2400" dirty="0"/>
              <a:t>MQTT infrastruktura i sinhronizacija </a:t>
            </a:r>
            <a:r>
              <a:rPr lang="nn-NO" sz="2400" dirty="0" smtClean="0"/>
              <a:t>servisa</a:t>
            </a:r>
            <a:endParaRPr lang="sr-Latn-RS" sz="2400" dirty="0" smtClean="0"/>
          </a:p>
          <a:p>
            <a:r>
              <a:rPr lang="en-US" sz="2400" dirty="0" err="1"/>
              <a:t>WebSocket</a:t>
            </a:r>
            <a:r>
              <a:rPr lang="en-US" sz="2400" dirty="0"/>
              <a:t> </a:t>
            </a:r>
            <a:r>
              <a:rPr lang="en-US" sz="2400" dirty="0" err="1"/>
              <a:t>realtime</a:t>
            </a:r>
            <a:r>
              <a:rPr lang="en-US" sz="2400" dirty="0"/>
              <a:t> </a:t>
            </a:r>
            <a:r>
              <a:rPr lang="en-US" sz="2400" dirty="0" err="1" smtClean="0"/>
              <a:t>komunikacija</a:t>
            </a:r>
            <a:endParaRPr lang="sr-Latn-RS" sz="2400" dirty="0" smtClean="0"/>
          </a:p>
          <a:p>
            <a:r>
              <a:rPr lang="en-US" sz="2400" dirty="0"/>
              <a:t>Android networking </a:t>
            </a:r>
            <a:r>
              <a:rPr lang="en-US" sz="2400" dirty="0" err="1"/>
              <a:t>i</a:t>
            </a:r>
            <a:r>
              <a:rPr lang="en-US" sz="2400" dirty="0"/>
              <a:t> </a:t>
            </a:r>
            <a:r>
              <a:rPr lang="en-US" sz="2400" dirty="0" err="1"/>
              <a:t>coroutine</a:t>
            </a:r>
            <a:r>
              <a:rPr lang="en-US" sz="2400" dirty="0"/>
              <a:t> </a:t>
            </a:r>
            <a:r>
              <a:rPr lang="en-US" sz="2400" dirty="0" err="1" smtClean="0"/>
              <a:t>handlin</a:t>
            </a:r>
            <a:r>
              <a:rPr lang="sr-Latn-RS" sz="2400" dirty="0" smtClean="0"/>
              <a:t>g</a:t>
            </a:r>
          </a:p>
          <a:p>
            <a:r>
              <a:rPr lang="en-US" sz="2400" dirty="0" err="1"/>
              <a:t>Integracija</a:t>
            </a:r>
            <a:r>
              <a:rPr lang="en-US" sz="2400" dirty="0"/>
              <a:t> </a:t>
            </a:r>
            <a:r>
              <a:rPr lang="en-US" sz="2400" dirty="0" err="1"/>
              <a:t>više</a:t>
            </a:r>
            <a:r>
              <a:rPr lang="en-US" sz="2400" dirty="0"/>
              <a:t> </a:t>
            </a:r>
            <a:r>
              <a:rPr lang="en-US" sz="2400" dirty="0" err="1"/>
              <a:t>različitih</a:t>
            </a:r>
            <a:r>
              <a:rPr lang="en-US" sz="2400" dirty="0"/>
              <a:t> </a:t>
            </a:r>
            <a:r>
              <a:rPr lang="en-US" sz="2400" dirty="0" err="1"/>
              <a:t>tehnologija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0134307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189</TotalTime>
  <Words>269</Words>
  <Application>Microsoft Office PowerPoint</Application>
  <PresentationFormat>Widescreen</PresentationFormat>
  <Paragraphs>85</Paragraphs>
  <Slides>14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Trebuchet MS</vt:lpstr>
      <vt:lpstr>Wingdings 3</vt:lpstr>
      <vt:lpstr>Facet</vt:lpstr>
      <vt:lpstr>PowerPoint Presentation</vt:lpstr>
      <vt:lpstr>Cilj projekta</vt:lpstr>
      <vt:lpstr>Hardverske komponente</vt:lpstr>
      <vt:lpstr>Softverske komponente i korišćene tehnologije</vt:lpstr>
      <vt:lpstr>Softverske komponente i korišćene tehnologije</vt:lpstr>
      <vt:lpstr>Arhitektura sistema</vt:lpstr>
      <vt:lpstr>Obrada slike na Arduino uređaju</vt:lpstr>
      <vt:lpstr>MQTT i Raspberry Pi bridge</vt:lpstr>
      <vt:lpstr>Android aplikacija</vt:lpstr>
      <vt:lpstr>Dashboard </vt:lpstr>
      <vt:lpstr>History</vt:lpstr>
      <vt:lpstr>Settings &amp; Control </vt:lpstr>
      <vt:lpstr>PowerPoint Presentation</vt:lpstr>
      <vt:lpstr>Tehnički izazovi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7</cp:revision>
  <dcterms:created xsi:type="dcterms:W3CDTF">2026-05-12T14:48:14Z</dcterms:created>
  <dcterms:modified xsi:type="dcterms:W3CDTF">2026-05-12T17:59:41Z</dcterms:modified>
</cp:coreProperties>
</file>